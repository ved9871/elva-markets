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B66FF"/>
            </a:solidFill>
            <a:effectLst/>
          </c:spPr>
          <c:invertIfNegative val="0"/>
          <c:dLbls>
            <c:numFmt formatCode="$0.0&quot; B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</c:v>
                  </c:pt>
                  <c:pt idx="1">
                    <c:v>2034 (forecast)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2.09</c:v>
                </c:pt>
                <c:pt idx="1">
                  <c:v>10.5</c:v>
                </c:pt>
              </c:numCache>
            </c:numRef>
          </c:val>
        </c:ser>
        <c:dLbls>
          <c:numFmt formatCode="$0.0&quot; B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2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2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424"/>
        </a:solidFill>
        <a:ln>
          <a:noFill/>
        </a:ln>
        <a:effectLst/>
      </c:spPr>
    </c:plotArea>
    <c:plotVisOnly val="1"/>
    <c:dispBlanksAs val="span"/>
  </c:chart>
  <c:spPr>
    <a:solidFill>
      <a:srgbClr val="0A14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UAE searches / month</c:v>
                </c:pt>
              </c:strCache>
            </c:strRef>
          </c:tx>
          <c:spPr>
            <a:solidFill>
              <a:srgbClr val="2B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7E0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etoro</c:v>
                  </c:pt>
                  <c:pt idx="1">
                    <c:v>forex trading</c:v>
                  </c:pt>
                  <c:pt idx="2">
                    <c:v>gold trading</c:v>
                  </c:pt>
                  <c:pt idx="3">
                    <c:v>mt5</c:v>
                  </c:pt>
                  <c:pt idx="4">
                    <c:v>trading app</c:v>
                  </c:pt>
                  <c:pt idx="5">
                    <c:v>ai trading</c:v>
                  </c:pt>
                  <c:pt idx="6">
                    <c:v>copy trading</c:v>
                  </c:pt>
                  <c:pt idx="7">
                    <c:v>best forex broker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12100</c:v>
                </c:pt>
                <c:pt idx="1">
                  <c:v>4400</c:v>
                </c:pt>
                <c:pt idx="2">
                  <c:v>2900</c:v>
                </c:pt>
                <c:pt idx="3">
                  <c:v>2900</c:v>
                </c:pt>
                <c:pt idx="4">
                  <c:v>1000</c:v>
                </c:pt>
                <c:pt idx="5">
                  <c:v>590</c:v>
                </c:pt>
                <c:pt idx="6">
                  <c:v>480</c:v>
                </c:pt>
                <c:pt idx="7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7E0E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D7E0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424"/>
        </a:solidFill>
        <a:ln>
          <a:noFill/>
        </a:ln>
        <a:effectLst/>
      </c:spPr>
    </c:plotArea>
    <c:plotVisOnly val="1"/>
    <c:dispBlanksAs val="span"/>
  </c:chart>
  <c:spPr>
    <a:solidFill>
      <a:srgbClr val="0A14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retail accounts losing money</c:v>
                </c:pt>
              </c:strCache>
            </c:strRef>
          </c:tx>
          <c:spPr>
            <a:solidFill>
              <a:srgbClr val="E854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4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CF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Industry average (49 regulated brokers)</c:v>
                  </c:pt>
                  <c:pt idx="1">
                    <c:v>eToro — the most assisted platform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2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7E0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424"/>
        </a:solidFill>
        <a:ln>
          <a:noFill/>
        </a:ln>
        <a:effectLst/>
      </c:spPr>
    </c:plotArea>
    <c:plotVisOnly val="1"/>
    <c:dispBlanksAs val="span"/>
  </c:chart>
  <c:spPr>
    <a:solidFill>
      <a:srgbClr val="0A14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51560"/>
            <a:ext cx="1371600" cy="1124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017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Target Customer &amp; Launch Strategy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169664" y="3794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2FC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9664" y="380847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BRIEFING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99632" y="3794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380847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RESEARCH-BASED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5394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October 2026  ·  Sources: UAE market research, regulator material, industry benchmarks &amp; live search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a cited benchmark or labelled estimate. Nothing here is legal or investment advice.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— as a two-stage business, not a single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(safe, thin):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on a licensed partner broker's rails. ELVA earns a referral rebate — about $168 per client over their lifetime. Advertising costs ~$300 per client, so this stage can never be bought; it must be earned through partners and community. Its job is to prove customers stay longer and lose less on ELVA.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(the real business):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retention proven, ELVA applies for its own UAE free-zone licence and earns the full spread — about $616 per client, 3.7× more. The $1M+ licensing investment is only approved once Stage 1 delivers the evidence.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239512" cy="4206240"/>
          </a:xfrm>
          <a:prstGeom prst="roundRect">
            <a:avLst>
              <a:gd name="adj" fmla="val 1739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CONDITIONS MUST HOLD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2240280"/>
            <a:ext cx="365760" cy="365760"/>
          </a:xfrm>
          <a:prstGeom prst="ellipse">
            <a:avLst/>
          </a:prstGeom>
          <a:solidFill>
            <a:srgbClr val="070D1B"/>
          </a:solidFill>
          <a:ln w="15875">
            <a:solidFill>
              <a:srgbClr val="E8A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539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78040" y="2212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non-custodial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4871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never holds client money or crypto — clients fund the licensed partner directly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154680"/>
            <a:ext cx="365760" cy="365760"/>
          </a:xfrm>
          <a:prstGeom prst="ellipse">
            <a:avLst/>
          </a:prstGeom>
          <a:solidFill>
            <a:srgbClr val="070D1B"/>
          </a:solidFill>
          <a:ln w="15875">
            <a:solidFill>
              <a:srgbClr val="E8A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1683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3127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Autopilot &amp; live copy trading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34015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legally 'managing money' — they wait for the right permission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4069080"/>
            <a:ext cx="365760" cy="365760"/>
          </a:xfrm>
          <a:prstGeom prst="ellipse">
            <a:avLst/>
          </a:prstGeom>
          <a:solidFill>
            <a:srgbClr val="070D1B"/>
          </a:solidFill>
          <a:ln w="15875">
            <a:solidFill>
              <a:srgbClr val="E8A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0827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4041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Zero-paid-media acquisition 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43159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Partners, content and referral must deliver clients; the waitlist is the early 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4983480"/>
            <a:ext cx="365760" cy="365760"/>
          </a:xfrm>
          <a:prstGeom prst="ellipse">
            <a:avLst/>
          </a:prstGeom>
          <a:solidFill>
            <a:srgbClr val="070D1B"/>
          </a:solidFill>
          <a:ln w="15875">
            <a:solidFill>
              <a:srgbClr val="E8A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9971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49560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for the licence stage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52303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$1M+ year-one cost is a later gate, not a day-one bet</a:t>
            </a:r>
            <a:endParaRPr lang="en-US" sz="1000" dirty="0"/>
          </a:p>
        </p:txBody>
      </p:sp>
      <p:pic>
        <p:nvPicPr>
          <p:cNvPr id="24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FEASIBILITY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UAE is one of the best retail-trading markets on earth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46504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800k+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44144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FX traders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752344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+ Saudi + Qatar, 2026 (industry vendor figure — directional)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79192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46504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244144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growth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2752344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retail investor accounts, year-on-year,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79192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46504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$1.2–2.5k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73952" y="244144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deposit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73952" y="2752344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average — among the highest in the world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505456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174650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36024" y="2441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crypto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36024" y="27523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adults — 2nd highest globally, after Hong Kong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91672" cy="2194560"/>
          </a:xfrm>
          <a:prstGeom prst="roundRect">
            <a:avLst>
              <a:gd name="adj" fmla="val 3333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30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FOR ELVA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0416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deposits mean each retained client is genuinely valuable. 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crypto comfort means stablecoin funding is a feature, not a barrier. 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government is actively courting the industry — Dubai and Abu Dhabi both run dedicated financial free zones with clear licensing paths.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 for the room: trader-count figures come from a forex industry vendor, not a statistics office — read them as direction, not precision. Crypto figures are from independent market research.</a:t>
            </a:r>
            <a:endParaRPr lang="en-US" sz="1000" dirty="0"/>
          </a:p>
        </p:txBody>
      </p:sp>
      <p:pic>
        <p:nvPicPr>
          <p:cNvPr id="24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MARKET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rides two product waves that are still rising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Copy-trading platforms — global market, $B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488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≈22% growth per year (market research forecast)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239512" cy="4297680"/>
          </a:xfrm>
          <a:prstGeom prst="roundRect">
            <a:avLst>
              <a:gd name="adj" fmla="val 1702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retail investing — already mainstream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751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778240" y="22128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retail investors already use AI tools to inform decisions (938-investor survey, Apr 2026)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75120" y="2971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77824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users say it improved their market performance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75120" y="3931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only 6% use AI portfolio tools and 5% automated algorithms.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44348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whitespace sits exactly where ELVA is built: between “asking a chatbot” and “blindly trusting a bot” — explainable AI with the human confirming every trade.</a:t>
            </a:r>
            <a:endParaRPr lang="en-US" sz="1150" dirty="0"/>
          </a:p>
        </p:txBody>
      </p:sp>
      <p:pic>
        <p:nvPicPr>
          <p:cNvPr id="16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MARKET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 we are building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420624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GULF PROFESSIONAL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5A8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4543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28–45, salaried expat. First deposit $1,200–2,500. Trades FX and gold around a day job. Chooses brokers by name and reputation.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them: visible regulation, transparent handling of money, an institutional feel — the Transparent Capital Layer pitch.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600200"/>
            <a:ext cx="3630168" cy="420624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CRYPTO-NATIVE 25–34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99432" y="23317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2FC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34543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99432" y="28163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of this UAE cohort is actively interested in crypto; 21% plan to start trading within 12 months. Mobile-first, funds in stablecoins, allergic to casino marketing.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9432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them: stablecoin deposits, app simplicity, and an AI that explains instead of promising.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93024" y="1600200"/>
            <a:ext cx="3630168" cy="420624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TIME-POOR DELEGATOR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21624" y="23317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234543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— stage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21624" y="28163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Affluent, often older — older UAE investors now hold slightly MORE crypto than younger ones (56% vs 53%). Wants copying or AI help with strict limits.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21624" y="4297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wins them: the permission matrix, audit trail and kill switch. Legally reachable only once the management permission exists.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the partner, not a customer but the engine: introducing brokers and trading educators deliver clients at ~$185 lifetime cost vs ~$300 for ads — partner experience is a product surface.</a:t>
            </a:r>
            <a:endParaRPr lang="en-US" sz="1050" dirty="0"/>
          </a:p>
        </p:txBody>
      </p:sp>
      <p:pic>
        <p:nvPicPr>
          <p:cNvPr id="23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CUSTOMER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UAE users actually search — live data, Oct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343400"/>
          </a:xfrm>
          <a:prstGeom prst="roundRect">
            <a:avLst>
              <a:gd name="adj" fmla="val 168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78308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1554480"/>
            <a:ext cx="4828032" cy="1371600"/>
          </a:xfrm>
          <a:prstGeom prst="roundRect">
            <a:avLst>
              <a:gd name="adj" fmla="val 5333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beats category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0" y="19659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search broker NAMES (etoro: 12,100) 38× more than “best forex broker” (320). ELVA must become a searched-for name — through content, community and partners.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12280" y="3035808"/>
            <a:ext cx="4828032" cy="1371600"/>
          </a:xfrm>
          <a:prstGeom prst="roundRect">
            <a:avLst>
              <a:gd name="adj" fmla="val 5333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ads: confirmed dead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0" y="344728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cost $36–47 in this market — against $168 lifetime client value in stage 1. The market itself validates the no-paid-media rule. (Ad platforms are licence-gated anyway.)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12280" y="4517136"/>
            <a:ext cx="4828032" cy="1371600"/>
          </a:xfrm>
          <a:prstGeom prst="roundRect">
            <a:avLst>
              <a:gd name="adj" fmla="val 5333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4645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trading” is an open category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40880" y="492861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demand (590/mo), low competition to rank. ELVA can own this phrase in the UAE before it gets expensive — the content window is open now.</a:t>
            </a:r>
            <a:endParaRPr lang="en-US" sz="1000" dirty="0"/>
          </a:p>
        </p:txBody>
      </p:sp>
      <p:pic>
        <p:nvPicPr>
          <p:cNvPr id="15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DEMAND · DataForSEO, United Arab Emirates, English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ingredient exists — the combination doesn't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0690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095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LACK VS ELVA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eToro (ADGM-licensed)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Copy-trading leader; the closest comparable; now adding local ADX stocks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0956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MT5, no bring-your-own bots, AI is light — social, not explainable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52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Exness · Equiti · Deriv · Vantage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9080" y="2852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MT5/CFD brokers in and around the UAE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09560" y="2852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platforms — no copy or AI differentiation; several serve MENA offshore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94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exchanges (OKX under VARA)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69080" y="36941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Crypto-native trading at scale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9560" y="36941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FX, gold or indices; retail crypto leverage capped at 5×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35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signal” apps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69080" y="45354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profits from 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09560" y="45354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targets — the SEC already fines “AI-washing”; zero institutional trust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D33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772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ELVA's slot: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multi-asset MT5 execution + stablecoin funding + explainable AI with a deterministic risk engine + copy + bots — under one transparent capital view. The differentiation is the bundle and the trust architecture, which is also why regulators judge each piece separately and the launch is phased.</a:t>
            </a:r>
            <a:endParaRPr lang="en-US" sz="1150" dirty="0"/>
          </a:p>
        </p:txBody>
      </p:sp>
      <p:pic>
        <p:nvPicPr>
          <p:cNvPr id="25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COMPETITION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to remember: $168 vs $300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46504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441448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Stage-1 client 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752344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revenue per client as an introducer (~$3/lot rebate, industry benchmarks)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746504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44568" y="2441448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client via ads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44568" y="2752344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Paid-media acquisition benchmark → every advertised client LOSES money in stage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74650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39328" y="244144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client value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9328" y="2752344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Full-spread revenue once ELVA is the licensed broker — 3.7× stage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24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2,000-CLIENT YEAR LOOKS LIKE (illustrative, industry benchmarks)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03320" y="4041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4041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contribution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4041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544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introducer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03320" y="4544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~$336k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4544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to negative after acquisition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0" y="4544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Survivable only with near-zero-cost channels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047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own licence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03320" y="5047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~$1.23M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94960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~$650k before fixed costs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0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business — if retention holds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5504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 reality: demo stage $50–150k/yr · a stage-2 licensed broker is realistically $1M+ in year one. The licence follows the retention proof — never precedes it.</a:t>
            </a:r>
            <a:endParaRPr lang="en-US" sz="950" dirty="0"/>
          </a:p>
        </p:txBody>
      </p:sp>
      <p:pic>
        <p:nvPicPr>
          <p:cNvPr id="31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ECONOMICS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AI MATTERS COMMERCIALLY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Intelligence is a retention engine, not a revenue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industry's uncomfortable numbers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9456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800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churn in ~7 months on average. Assistance measurably changes the loss curve — eToro is the existence proof.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0" y="1600200"/>
            <a:ext cx="5239512" cy="4160520"/>
          </a:xfrm>
          <a:prstGeom prst="roundRect">
            <a:avLst>
              <a:gd name="adj" fmla="val 1758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retention math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7512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+$88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909828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stage-2 revenue per client for EVERY extra month retained — at zero additional acquisition cost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75120" y="32918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MVP shows clients staying 9–10 months instead of 7 — because the AI explains, the risk engine protects, and the capital view builds trust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stage-2 business case writes itself.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MVP's success metric is retention and loss-rate — not revenue.</a:t>
            </a:r>
            <a:endParaRPr lang="en-US" sz="1150" dirty="0"/>
          </a:p>
        </p:txBody>
      </p:sp>
      <p:pic>
        <p:nvPicPr>
          <p:cNvPr id="14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ECONOMICS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phases, each with an explicit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73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· NOW → ~3 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product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" y="254203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5A8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5574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budget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98094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platform (built &amp; live) · invite-only waitlist · investor demos · content engine starts (SEO, YouTube, AI-answer visibility) · engage UAE counsel · confirm MT5 with MetaQuotes · sign partner-broker LOI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counsel memo · partner signed · 500–1,000 qualified waitlist · custody &amp; branding decisions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0832" y="1572768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73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~3–9 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money on a partner's licence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2FC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5574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$150–300k / yr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98094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fund the licensed partner — ELVA never touches money · manual trading + bring-your-own bots only · AI = analysis &amp; confirm design, no Autopilot · geofenced by KYC (no US/EU/UK) · acquisition via IBs, TradingView/MQL5, organic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1,000–2,000 funded clients at near-zero CAC · retention ABOVE the 7-month norm · loss-rate below 71% · regulator pre-application 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93024" y="1572768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773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~9–24 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4192" y="20116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licence, full economics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394192" y="254203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70D1B"/>
          </a:solidFill>
          <a:ln w="12700">
            <a:solidFill>
              <a:srgbClr val="2FCF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5574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$1M+ yr-1 + capital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94192" y="298094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DFSA or FSRA application — the only UAE route holding the whole stack under one regulator (eToro's ADGM permission is the precedent) · revenue steps $168 → $616 per client · copy trading goes live under a management permission · Autopilot stays OUT of the first application, returns later as a separately approved product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94192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a licensed, differentiated UAE broker with proven retention</a:t>
            </a:r>
            <a:endParaRPr lang="en-US" sz="900" dirty="0"/>
          </a:p>
        </p:txBody>
      </p:sp>
      <p:pic>
        <p:nvPicPr>
          <p:cNvPr id="25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LAUNCH PLAN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KILL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— each with a mitigation already in motion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19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SERIOUS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real money too early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9659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deposit from UAE residents pre-licence: 1yr+ imprisonment, fines to AED 250M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0100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demo-only rule, in force today, until the partner structure is signed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07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acquisition bet fails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8072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partners + organic can't deliver 1–2k clients, there's no retention proof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0100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Phase-0 waitlist is the cheap go/no-go test before real 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4845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Touching client crypto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6484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stablecoins triggers custody licensing + Travel-Rule + Central Bank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3648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design — deposits go straight to the licensed partner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8970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marketed as profit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448970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 actively fine “AI-washing”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4489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product-wide: AI explains, never promises; confidence ≠ profit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NodalWaves token link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5330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securities-law scrutiny into the licence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01000" y="5330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FC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group line client-facing; zero token-ELVA economic link until counsel clears</a:t>
            </a:r>
            <a:endParaRPr lang="en-US" sz="1000" dirty="0"/>
          </a:p>
        </p:txBody>
      </p:sp>
      <p:pic>
        <p:nvPicPr>
          <p:cNvPr id="27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RISK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is being asked to approve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75104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9339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the two-stage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Introducer first; own licence only on retention proof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975104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13448" y="18013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phased budget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13448" y="21214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Phase 0 now · $150–300k Phase 1 on gates · $1M+ deferred to the Phase-1 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182112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00400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08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model: non-custodial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3284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Halves the licensing scope — needs founder + counsel sign-off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2852928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3182112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200400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3008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Autopilot &amp; live copy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3448" y="33284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AI as analysis/confirm design only (already how the prototype is built)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9936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389120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407408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2153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NodalWaves branding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5354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client-facing materials pending counsel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4059936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0A1424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7376" y="4389120"/>
            <a:ext cx="420624" cy="420624"/>
          </a:xfrm>
          <a:prstGeom prst="ellipse">
            <a:avLst/>
          </a:prstGeom>
          <a:solidFill>
            <a:srgbClr val="070D1B"/>
          </a:solidFill>
          <a:ln w="19050">
            <a:solidFill>
              <a:srgbClr val="2B6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4407408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13448" y="42153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counsel + partner search now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13448" y="45354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longest poles in Phase 0 — begin this month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D33"/>
          </a:solidFill>
          <a:ln w="12700">
            <a:solidFill>
              <a:srgbClr val="243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FC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is proven, the customer is well-funded, the competitive slot is open, and the prototype already exists. This is not “approve a broker” — it is a cheap, staged test of retention that earns the right to become one.</a:t>
            </a:r>
            <a:endParaRPr lang="en-US" sz="1250" dirty="0"/>
          </a:p>
        </p:txBody>
      </p:sp>
      <p:pic>
        <p:nvPicPr>
          <p:cNvPr id="36" name="Image 0" descr="C:/Users/Dell/Documents/Claude/Projects/Elva Project/assets/brand/elv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292608" cy="24231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1440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ELVA MARKETS  ·  DECISION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949440" y="638251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research benchmarks or labelled estimates · not legal advice 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2026-10-03T13:59:45Z</dcterms:created>
  <dcterms:modified xsi:type="dcterms:W3CDTF">2026-10-03T13:59:45Z</dcterms:modified>
</cp:coreProperties>
</file>